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4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9" r:id="rId3"/>
    <p:sldId id="260" r:id="rId4"/>
    <p:sldId id="272" r:id="rId5"/>
    <p:sldId id="273" r:id="rId6"/>
    <p:sldId id="264" r:id="rId7"/>
    <p:sldId id="274" r:id="rId8"/>
    <p:sldId id="265" r:id="rId9"/>
    <p:sldId id="266" r:id="rId10"/>
    <p:sldId id="267" r:id="rId11"/>
    <p:sldId id="268" r:id="rId12"/>
    <p:sldId id="275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AD677E-67BB-4542-82E9-A316D609EB31}" v="63" dt="2026-08-18T12:55:17.7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mi narasimha sai Komma" userId="b7f1132bd06700d1" providerId="LiveId" clId="{5F926FF6-8A72-4D86-8444-125C8C63F560}"/>
    <pc:docChg chg="undo custSel addSld delSld modSld sldOrd">
      <pc:chgData name="Lakshmi narasimha sai Komma" userId="b7f1132bd06700d1" providerId="LiveId" clId="{5F926FF6-8A72-4D86-8444-125C8C63F560}" dt="2026-08-18T12:56:16.388" v="547" actId="1035"/>
      <pc:docMkLst>
        <pc:docMk/>
      </pc:docMkLst>
      <pc:sldChg chg="addSp delSp modSp mod">
        <pc:chgData name="Lakshmi narasimha sai Komma" userId="b7f1132bd06700d1" providerId="LiveId" clId="{5F926FF6-8A72-4D86-8444-125C8C63F560}" dt="2026-08-13T06:54:56.134" v="94" actId="14100"/>
        <pc:sldMkLst>
          <pc:docMk/>
          <pc:sldMk cId="1894066308" sldId="256"/>
        </pc:sldMkLst>
        <pc:picChg chg="add mod">
          <ac:chgData name="Lakshmi narasimha sai Komma" userId="b7f1132bd06700d1" providerId="LiveId" clId="{5F926FF6-8A72-4D86-8444-125C8C63F560}" dt="2026-08-13T06:54:56.134" v="94" actId="14100"/>
          <ac:picMkLst>
            <pc:docMk/>
            <pc:sldMk cId="1894066308" sldId="256"/>
            <ac:picMk id="6" creationId="{66AC24CE-26F1-0B03-7D00-DCD4051ECF97}"/>
          </ac:picMkLst>
        </pc:picChg>
      </pc:sldChg>
      <pc:sldChg chg="addSp delSp modSp mod">
        <pc:chgData name="Lakshmi narasimha sai Komma" userId="b7f1132bd06700d1" providerId="LiveId" clId="{5F926FF6-8A72-4D86-8444-125C8C63F560}" dt="2026-08-13T06:55:01.827" v="95" actId="22"/>
        <pc:sldMkLst>
          <pc:docMk/>
          <pc:sldMk cId="1948483243" sldId="259"/>
        </pc:sldMkLst>
        <pc:picChg chg="add">
          <ac:chgData name="Lakshmi narasimha sai Komma" userId="b7f1132bd06700d1" providerId="LiveId" clId="{5F926FF6-8A72-4D86-8444-125C8C63F560}" dt="2026-08-13T06:55:01.827" v="95" actId="22"/>
          <ac:picMkLst>
            <pc:docMk/>
            <pc:sldMk cId="1948483243" sldId="259"/>
            <ac:picMk id="5" creationId="{97E88FA8-FB49-626E-81DB-D0C0720AFAB0}"/>
          </ac:picMkLst>
        </pc:picChg>
      </pc:sldChg>
      <pc:sldChg chg="addSp delSp modSp mod">
        <pc:chgData name="Lakshmi narasimha sai Komma" userId="b7f1132bd06700d1" providerId="LiveId" clId="{5F926FF6-8A72-4D86-8444-125C8C63F560}" dt="2026-08-13T07:01:25.385" v="227" actId="113"/>
        <pc:sldMkLst>
          <pc:docMk/>
          <pc:sldMk cId="1261359068" sldId="260"/>
        </pc:sldMkLst>
        <pc:spChg chg="mod">
          <ac:chgData name="Lakshmi narasimha sai Komma" userId="b7f1132bd06700d1" providerId="LiveId" clId="{5F926FF6-8A72-4D86-8444-125C8C63F560}" dt="2026-08-13T07:01:25.385" v="227" actId="113"/>
          <ac:spMkLst>
            <pc:docMk/>
            <pc:sldMk cId="1261359068" sldId="260"/>
            <ac:spMk id="3" creationId="{CE739C73-416C-F050-47CB-3E3E1E575293}"/>
          </ac:spMkLst>
        </pc:spChg>
        <pc:picChg chg="add">
          <ac:chgData name="Lakshmi narasimha sai Komma" userId="b7f1132bd06700d1" providerId="LiveId" clId="{5F926FF6-8A72-4D86-8444-125C8C63F560}" dt="2026-08-13T06:55:05.271" v="96" actId="22"/>
          <ac:picMkLst>
            <pc:docMk/>
            <pc:sldMk cId="1261359068" sldId="260"/>
            <ac:picMk id="5" creationId="{6F001974-0EF2-A6E8-0BFE-7A87EAF6578D}"/>
          </ac:picMkLst>
        </pc:picChg>
      </pc:sldChg>
      <pc:sldChg chg="addSp delSp modSp del mod ord">
        <pc:chgData name="Lakshmi narasimha sai Komma" userId="b7f1132bd06700d1" providerId="LiveId" clId="{5F926FF6-8A72-4D86-8444-125C8C63F560}" dt="2026-08-18T12:52:29.788" v="414" actId="47"/>
        <pc:sldMkLst>
          <pc:docMk/>
          <pc:sldMk cId="3268786422" sldId="263"/>
        </pc:sldMkLst>
        <pc:graphicFrameChg chg="mod modGraphic">
          <ac:chgData name="Lakshmi narasimha sai Komma" userId="b7f1132bd06700d1" providerId="LiveId" clId="{5F926FF6-8A72-4D86-8444-125C8C63F560}" dt="2026-08-18T12:52:19.602" v="413" actId="6549"/>
          <ac:graphicFrameMkLst>
            <pc:docMk/>
            <pc:sldMk cId="3268786422" sldId="263"/>
            <ac:graphicFrameMk id="6" creationId="{16B22816-29EE-5DE2-EAFE-FF3DC7E433D5}"/>
          </ac:graphicFrameMkLst>
        </pc:graphicFrameChg>
      </pc:sldChg>
      <pc:sldChg chg="addSp delSp mod">
        <pc:chgData name="Lakshmi narasimha sai Komma" userId="b7f1132bd06700d1" providerId="LiveId" clId="{5F926FF6-8A72-4D86-8444-125C8C63F560}" dt="2026-08-13T06:55:26.376" v="103" actId="22"/>
        <pc:sldMkLst>
          <pc:docMk/>
          <pc:sldMk cId="1403241400" sldId="264"/>
        </pc:sldMkLst>
        <pc:picChg chg="add">
          <ac:chgData name="Lakshmi narasimha sai Komma" userId="b7f1132bd06700d1" providerId="LiveId" clId="{5F926FF6-8A72-4D86-8444-125C8C63F560}" dt="2026-08-13T06:55:26.376" v="103" actId="22"/>
          <ac:picMkLst>
            <pc:docMk/>
            <pc:sldMk cId="1403241400" sldId="264"/>
            <ac:picMk id="5" creationId="{AD59B87D-0D94-2EF2-21B9-ED231C7FE7C7}"/>
          </ac:picMkLst>
        </pc:picChg>
      </pc:sldChg>
      <pc:sldChg chg="addSp delSp mod">
        <pc:chgData name="Lakshmi narasimha sai Komma" userId="b7f1132bd06700d1" providerId="LiveId" clId="{5F926FF6-8A72-4D86-8444-125C8C63F560}" dt="2026-08-13T06:55:30.960" v="104" actId="22"/>
        <pc:sldMkLst>
          <pc:docMk/>
          <pc:sldMk cId="2797277950" sldId="265"/>
        </pc:sldMkLst>
        <pc:picChg chg="add">
          <ac:chgData name="Lakshmi narasimha sai Komma" userId="b7f1132bd06700d1" providerId="LiveId" clId="{5F926FF6-8A72-4D86-8444-125C8C63F560}" dt="2026-08-13T06:55:30.960" v="104" actId="22"/>
          <ac:picMkLst>
            <pc:docMk/>
            <pc:sldMk cId="2797277950" sldId="265"/>
            <ac:picMk id="5" creationId="{9BCDFFB4-9812-C76E-FE9A-7811EFC59D1B}"/>
          </ac:picMkLst>
        </pc:picChg>
      </pc:sldChg>
      <pc:sldChg chg="addSp delSp modSp mod">
        <pc:chgData name="Lakshmi narasimha sai Komma" userId="b7f1132bd06700d1" providerId="LiveId" clId="{5F926FF6-8A72-4D86-8444-125C8C63F560}" dt="2026-08-13T06:55:37.946" v="106" actId="14100"/>
        <pc:sldMkLst>
          <pc:docMk/>
          <pc:sldMk cId="1041993537" sldId="266"/>
        </pc:sldMkLst>
        <pc:picChg chg="add mod">
          <ac:chgData name="Lakshmi narasimha sai Komma" userId="b7f1132bd06700d1" providerId="LiveId" clId="{5F926FF6-8A72-4D86-8444-125C8C63F560}" dt="2026-08-13T06:55:37.946" v="106" actId="14100"/>
          <ac:picMkLst>
            <pc:docMk/>
            <pc:sldMk cId="1041993537" sldId="266"/>
            <ac:picMk id="5" creationId="{AB177045-603B-953E-164A-508EBA71533F}"/>
          </ac:picMkLst>
        </pc:picChg>
      </pc:sldChg>
      <pc:sldChg chg="addSp delSp mod">
        <pc:chgData name="Lakshmi narasimha sai Komma" userId="b7f1132bd06700d1" providerId="LiveId" clId="{5F926FF6-8A72-4D86-8444-125C8C63F560}" dt="2026-08-13T06:55:40.298" v="107" actId="22"/>
        <pc:sldMkLst>
          <pc:docMk/>
          <pc:sldMk cId="2911654619" sldId="267"/>
        </pc:sldMkLst>
        <pc:picChg chg="add">
          <ac:chgData name="Lakshmi narasimha sai Komma" userId="b7f1132bd06700d1" providerId="LiveId" clId="{5F926FF6-8A72-4D86-8444-125C8C63F560}" dt="2026-08-13T06:55:40.298" v="107" actId="22"/>
          <ac:picMkLst>
            <pc:docMk/>
            <pc:sldMk cId="2911654619" sldId="267"/>
            <ac:picMk id="5" creationId="{424B2B12-3676-11A3-0CCB-37567CA55634}"/>
          </ac:picMkLst>
        </pc:picChg>
      </pc:sldChg>
      <pc:sldChg chg="addSp delSp modSp mod">
        <pc:chgData name="Lakshmi narasimha sai Komma" userId="b7f1132bd06700d1" providerId="LiveId" clId="{5F926FF6-8A72-4D86-8444-125C8C63F560}" dt="2026-08-18T12:55:58.407" v="539" actId="14100"/>
        <pc:sldMkLst>
          <pc:docMk/>
          <pc:sldMk cId="815516336" sldId="268"/>
        </pc:sldMkLst>
        <pc:spChg chg="mod">
          <ac:chgData name="Lakshmi narasimha sai Komma" userId="b7f1132bd06700d1" providerId="LiveId" clId="{5F926FF6-8A72-4D86-8444-125C8C63F560}" dt="2026-08-18T12:55:58.407" v="539" actId="14100"/>
          <ac:spMkLst>
            <pc:docMk/>
            <pc:sldMk cId="815516336" sldId="268"/>
            <ac:spMk id="3" creationId="{AC531E6E-68F8-3DD8-0781-A06BFE99250E}"/>
          </ac:spMkLst>
        </pc:spChg>
        <pc:spChg chg="del mod">
          <ac:chgData name="Lakshmi narasimha sai Komma" userId="b7f1132bd06700d1" providerId="LiveId" clId="{5F926FF6-8A72-4D86-8444-125C8C63F560}" dt="2026-08-18T12:55:50.052" v="537" actId="478"/>
          <ac:spMkLst>
            <pc:docMk/>
            <pc:sldMk cId="815516336" sldId="268"/>
            <ac:spMk id="5" creationId="{22EB86F9-45AD-97C9-44F7-D9D6F6BD4D0C}"/>
          </ac:spMkLst>
        </pc:spChg>
        <pc:picChg chg="add">
          <ac:chgData name="Lakshmi narasimha sai Komma" userId="b7f1132bd06700d1" providerId="LiveId" clId="{5F926FF6-8A72-4D86-8444-125C8C63F560}" dt="2026-08-13T06:55:42.728" v="108" actId="22"/>
          <ac:picMkLst>
            <pc:docMk/>
            <pc:sldMk cId="815516336" sldId="268"/>
            <ac:picMk id="6" creationId="{0BF8A018-C82B-FD2D-0802-E340162761BC}"/>
          </ac:picMkLst>
        </pc:picChg>
      </pc:sldChg>
      <pc:sldChg chg="addSp modSp new mod">
        <pc:chgData name="Lakshmi narasimha sai Komma" userId="b7f1132bd06700d1" providerId="LiveId" clId="{5F926FF6-8A72-4D86-8444-125C8C63F560}" dt="2026-08-13T07:09:48.739" v="385" actId="20577"/>
        <pc:sldMkLst>
          <pc:docMk/>
          <pc:sldMk cId="2409032843" sldId="272"/>
        </pc:sldMkLst>
        <pc:spChg chg="add mod">
          <ac:chgData name="Lakshmi narasimha sai Komma" userId="b7f1132bd06700d1" providerId="LiveId" clId="{5F926FF6-8A72-4D86-8444-125C8C63F560}" dt="2026-08-13T07:07:17.088" v="295" actId="255"/>
          <ac:spMkLst>
            <pc:docMk/>
            <pc:sldMk cId="2409032843" sldId="272"/>
            <ac:spMk id="3" creationId="{6A97F5F5-1715-767E-4DEA-AEBB4922EF18}"/>
          </ac:spMkLst>
        </pc:spChg>
        <pc:graphicFrameChg chg="add mod modGraphic">
          <ac:chgData name="Lakshmi narasimha sai Komma" userId="b7f1132bd06700d1" providerId="LiveId" clId="{5F926FF6-8A72-4D86-8444-125C8C63F560}" dt="2026-08-13T07:09:48.739" v="385" actId="20577"/>
          <ac:graphicFrameMkLst>
            <pc:docMk/>
            <pc:sldMk cId="2409032843" sldId="272"/>
            <ac:graphicFrameMk id="2" creationId="{784E7201-7DA2-17E5-5DF9-4660BD2A30D8}"/>
          </ac:graphicFrameMkLst>
        </pc:graphicFrameChg>
        <pc:picChg chg="add mod">
          <ac:chgData name="Lakshmi narasimha sai Komma" userId="b7f1132bd06700d1" providerId="LiveId" clId="{5F926FF6-8A72-4D86-8444-125C8C63F560}" dt="2026-08-13T07:07:44.270" v="302" actId="14100"/>
          <ac:picMkLst>
            <pc:docMk/>
            <pc:sldMk cId="2409032843" sldId="272"/>
            <ac:picMk id="5" creationId="{CAC7631E-B553-2A42-F266-175F282C19E7}"/>
          </ac:picMkLst>
        </pc:picChg>
      </pc:sldChg>
      <pc:sldChg chg="addSp modSp new mod">
        <pc:chgData name="Lakshmi narasimha sai Komma" userId="b7f1132bd06700d1" providerId="LiveId" clId="{5F926FF6-8A72-4D86-8444-125C8C63F560}" dt="2026-08-18T12:49:46.865" v="408"/>
        <pc:sldMkLst>
          <pc:docMk/>
          <pc:sldMk cId="3259670792" sldId="273"/>
        </pc:sldMkLst>
        <pc:spChg chg="add mod">
          <ac:chgData name="Lakshmi narasimha sai Komma" userId="b7f1132bd06700d1" providerId="LiveId" clId="{5F926FF6-8A72-4D86-8444-125C8C63F560}" dt="2026-08-13T07:08:54.475" v="322" actId="20577"/>
          <ac:spMkLst>
            <pc:docMk/>
            <pc:sldMk cId="3259670792" sldId="273"/>
            <ac:spMk id="3" creationId="{C8B648A0-C12F-EFC5-A071-A2665C097FD0}"/>
          </ac:spMkLst>
        </pc:spChg>
        <pc:spChg chg="add mod">
          <ac:chgData name="Lakshmi narasimha sai Komma" userId="b7f1132bd06700d1" providerId="LiveId" clId="{5F926FF6-8A72-4D86-8444-125C8C63F560}" dt="2026-08-13T07:10:25.125" v="392" actId="14100"/>
          <ac:spMkLst>
            <pc:docMk/>
            <pc:sldMk cId="3259670792" sldId="273"/>
            <ac:spMk id="4" creationId="{33D3CB3F-4061-36F4-1F21-6240D8EC2F65}"/>
          </ac:spMkLst>
        </pc:spChg>
        <pc:graphicFrameChg chg="add mod modGraphic">
          <ac:chgData name="Lakshmi narasimha sai Komma" userId="b7f1132bd06700d1" providerId="LiveId" clId="{5F926FF6-8A72-4D86-8444-125C8C63F560}" dt="2026-08-18T12:49:46.865" v="408"/>
          <ac:graphicFrameMkLst>
            <pc:docMk/>
            <pc:sldMk cId="3259670792" sldId="273"/>
            <ac:graphicFrameMk id="2" creationId="{A535C588-117F-B20C-B028-8A5A2A9E5A89}"/>
          </ac:graphicFrameMkLst>
        </pc:graphicFrameChg>
      </pc:sldChg>
      <pc:sldChg chg="addSp modSp new mod">
        <pc:chgData name="Lakshmi narasimha sai Komma" userId="b7f1132bd06700d1" providerId="LiveId" clId="{5F926FF6-8A72-4D86-8444-125C8C63F560}" dt="2026-08-18T12:56:16.388" v="547" actId="1035"/>
        <pc:sldMkLst>
          <pc:docMk/>
          <pc:sldMk cId="2340774718" sldId="274"/>
        </pc:sldMkLst>
        <pc:spChg chg="add mod">
          <ac:chgData name="Lakshmi narasimha sai Komma" userId="b7f1132bd06700d1" providerId="LiveId" clId="{5F926FF6-8A72-4D86-8444-125C8C63F560}" dt="2026-08-18T12:53:02.926" v="460" actId="14100"/>
          <ac:spMkLst>
            <pc:docMk/>
            <pc:sldMk cId="2340774718" sldId="274"/>
            <ac:spMk id="2" creationId="{AB7DEB05-1F93-EA4F-46AD-2560C593FB12}"/>
          </ac:spMkLst>
        </pc:spChg>
        <pc:spChg chg="add mod">
          <ac:chgData name="Lakshmi narasimha sai Komma" userId="b7f1132bd06700d1" providerId="LiveId" clId="{5F926FF6-8A72-4D86-8444-125C8C63F560}" dt="2026-08-18T12:54:19.611" v="504" actId="20577"/>
          <ac:spMkLst>
            <pc:docMk/>
            <pc:sldMk cId="2340774718" sldId="274"/>
            <ac:spMk id="3" creationId="{6261618D-63C0-9D87-B255-A9372609938B}"/>
          </ac:spMkLst>
        </pc:spChg>
        <pc:picChg chg="add mod">
          <ac:chgData name="Lakshmi narasimha sai Komma" userId="b7f1132bd06700d1" providerId="LiveId" clId="{5F926FF6-8A72-4D86-8444-125C8C63F560}" dt="2026-08-18T12:56:16.388" v="547" actId="1035"/>
          <ac:picMkLst>
            <pc:docMk/>
            <pc:sldMk cId="2340774718" sldId="274"/>
            <ac:picMk id="5" creationId="{E6C3AB1C-782F-A096-E410-023AF75455F7}"/>
          </ac:picMkLst>
        </pc:picChg>
      </pc:sldChg>
      <pc:sldChg chg="addSp delSp modSp new mod">
        <pc:chgData name="Lakshmi narasimha sai Komma" userId="b7f1132bd06700d1" providerId="LiveId" clId="{5F926FF6-8A72-4D86-8444-125C8C63F560}" dt="2026-08-18T12:56:06.201" v="540" actId="22"/>
        <pc:sldMkLst>
          <pc:docMk/>
          <pc:sldMk cId="3691266034" sldId="275"/>
        </pc:sldMkLst>
        <pc:spChg chg="add mod">
          <ac:chgData name="Lakshmi narasimha sai Komma" userId="b7f1132bd06700d1" providerId="LiveId" clId="{5F926FF6-8A72-4D86-8444-125C8C63F560}" dt="2026-08-18T12:54:55.642" v="522" actId="14100"/>
          <ac:spMkLst>
            <pc:docMk/>
            <pc:sldMk cId="3691266034" sldId="275"/>
            <ac:spMk id="2" creationId="{4E2662EA-A5CA-7F13-A9FC-9E0E918A54D8}"/>
          </ac:spMkLst>
        </pc:spChg>
        <pc:spChg chg="add del mod">
          <ac:chgData name="Lakshmi narasimha sai Komma" userId="b7f1132bd06700d1" providerId="LiveId" clId="{5F926FF6-8A72-4D86-8444-125C8C63F560}" dt="2026-08-18T12:55:03.924" v="526"/>
          <ac:spMkLst>
            <pc:docMk/>
            <pc:sldMk cId="3691266034" sldId="275"/>
            <ac:spMk id="3" creationId="{CE76E60B-C49D-B66A-D587-93CBF6673F2E}"/>
          </ac:spMkLst>
        </pc:spChg>
        <pc:spChg chg="add mod">
          <ac:chgData name="Lakshmi narasimha sai Komma" userId="b7f1132bd06700d1" providerId="LiveId" clId="{5F926FF6-8A72-4D86-8444-125C8C63F560}" dt="2026-08-18T12:55:38.562" v="534" actId="14100"/>
          <ac:spMkLst>
            <pc:docMk/>
            <pc:sldMk cId="3691266034" sldId="275"/>
            <ac:spMk id="4" creationId="{21B55610-436C-ED45-1B2F-0FBB7307086E}"/>
          </ac:spMkLst>
        </pc:spChg>
        <pc:picChg chg="add">
          <ac:chgData name="Lakshmi narasimha sai Komma" userId="b7f1132bd06700d1" providerId="LiveId" clId="{5F926FF6-8A72-4D86-8444-125C8C63F560}" dt="2026-08-18T12:56:06.201" v="540" actId="22"/>
          <ac:picMkLst>
            <pc:docMk/>
            <pc:sldMk cId="3691266034" sldId="275"/>
            <ac:picMk id="6" creationId="{CA627858-69F6-7E4B-CC53-75CB15AC66A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5842E8-6104-F644-D607-75E14AA0F1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AAFAA1-5928-C2A8-E529-FE95A2EAD1E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3EA30E-7C58-4B91-A034-BB223D81584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898383-5870-1843-4592-CB8269CB4EE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5F3AC2-26FB-8598-14E6-EEB240CC260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464298-728C-4D44-AFB8-AC7D745EC2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649138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F5B43A-A86A-4625-8B33-67ADF083AE1D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897CEE-5A51-450D-A98B-8426888AD8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662060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4116F272-25C3-4E0B-B1BF-038A1FEBD9B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4817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16F272-25C3-4E0B-B1BF-038A1FEBD9B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709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116F272-25C3-4E0B-B1BF-038A1FEBD9B1}" type="datetimeFigureOut">
              <a:rPr lang="en-IN" smtClean="0"/>
              <a:t>18-08-2026</a:t>
            </a:fld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00393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6F272-25C3-4E0B-B1BF-038A1FEBD9B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10193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16F272-25C3-4E0B-B1BF-038A1FEBD9B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6821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16F272-25C3-4E0B-B1BF-038A1FEBD9B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702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16F272-25C3-4E0B-B1BF-038A1FEBD9B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8919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16F272-25C3-4E0B-B1BF-038A1FEBD9B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218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16F272-25C3-4E0B-B1BF-038A1FEBD9B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050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16F272-25C3-4E0B-B1BF-038A1FEBD9B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9550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4116F272-25C3-4E0B-B1BF-038A1FEBD9B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809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4116F272-25C3-4E0B-B1BF-038A1FEBD9B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4805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4116F272-25C3-4E0B-B1BF-038A1FEBD9B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503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4116F272-25C3-4E0B-B1BF-038A1FEBD9B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4599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4116F272-25C3-4E0B-B1BF-038A1FEBD9B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2875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16F272-25C3-4E0B-B1BF-038A1FEBD9B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01563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16F272-25C3-4E0B-B1BF-038A1FEBD9B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49136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4116F272-25C3-4E0B-B1BF-038A1FEBD9B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83409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16F272-25C3-4E0B-B1BF-038A1FEBD9B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0740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16F272-25C3-4E0B-B1BF-038A1FEBD9B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29734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16F272-25C3-4E0B-B1BF-038A1FEBD9B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73797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16F272-25C3-4E0B-B1BF-038A1FEBD9B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454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16F272-25C3-4E0B-B1BF-038A1FEBD9B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05670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16F272-25C3-4E0B-B1BF-038A1FEBD9B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1322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16F272-25C3-4E0B-B1BF-038A1FEBD9B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0215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16F272-25C3-4E0B-B1BF-038A1FEBD9B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2336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16F272-25C3-4E0B-B1BF-038A1FEBD9B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013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32293-6AA0-D968-1C3B-1C86034639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D48505-FC95-5163-2239-EE4C86E717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3A08D-C0C2-685E-AD46-B76A11E48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6F272-25C3-4E0B-B1BF-038A1FEBD9B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8BF8F-D776-75D1-D5A2-E46B4858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73B94-88E9-3A4C-F038-2E0BBF1CE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8847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4116F272-25C3-4E0B-B1BF-038A1FEBD9B1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EB4EBE58-8BCA-4133-9B7B-C0DF0A24EE9F}" type="slidenum">
              <a:rPr lang="en-IN" smtClean="0"/>
              <a:t>‹#›</a:t>
            </a:fld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6232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  <p:sldLayoutId id="2147483836" r:id="rId12"/>
    <p:sldLayoutId id="2147483837" r:id="rId13"/>
    <p:sldLayoutId id="2147483838" r:id="rId14"/>
    <p:sldLayoutId id="2147483839" r:id="rId15"/>
    <p:sldLayoutId id="2147483840" r:id="rId16"/>
    <p:sldLayoutId id="2147483841" r:id="rId17"/>
    <p:sldLayoutId id="2147483842" r:id="rId18"/>
    <p:sldLayoutId id="2147483843" r:id="rId19"/>
    <p:sldLayoutId id="2147483844" r:id="rId20"/>
    <p:sldLayoutId id="2147483845" r:id="rId21"/>
    <p:sldLayoutId id="2147483846" r:id="rId22"/>
    <p:sldLayoutId id="2147483847" r:id="rId23"/>
    <p:sldLayoutId id="2147483848" r:id="rId24"/>
    <p:sldLayoutId id="2147483849" r:id="rId25"/>
    <p:sldLayoutId id="2147483850" r:id="rId26"/>
    <p:sldLayoutId id="2147483851" r:id="rId27"/>
    <p:sldLayoutId id="2147483852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F0C47-D637-C2FF-1678-31E8C756E7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5471"/>
            <a:ext cx="8819535" cy="2330245"/>
          </a:xfrm>
        </p:spPr>
        <p:txBody>
          <a:bodyPr>
            <a:normAutofit/>
          </a:bodyPr>
          <a:lstStyle/>
          <a:p>
            <a:r>
              <a:rPr lang="en-IN" sz="4400" b="1" dirty="0"/>
              <a:t>APPLIED MACHINE LEARNING FOR TEXT ANALYSIS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C47C4A-E865-BC86-92D7-F55E3E6E65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89471"/>
            <a:ext cx="9144000" cy="648929"/>
          </a:xfrm>
        </p:spPr>
        <p:txBody>
          <a:bodyPr/>
          <a:lstStyle/>
          <a:p>
            <a:r>
              <a:rPr lang="en-IN" b="1" dirty="0"/>
              <a:t>(PROJECT PRESENTATION)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A1CCC5-DF07-94EE-AAF9-A11E14DFE7D0}"/>
              </a:ext>
            </a:extLst>
          </p:cNvPr>
          <p:cNvSpPr txBox="1"/>
          <p:nvPr/>
        </p:nvSpPr>
        <p:spPr>
          <a:xfrm>
            <a:off x="117987" y="2910348"/>
            <a:ext cx="1187736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Project Name : LLM-Based Intelligent Personal Finance Advisor with Personalized Savings Prediction and Investment Recommendation </a:t>
            </a:r>
          </a:p>
          <a:p>
            <a:endParaRPr lang="en-IN" dirty="0"/>
          </a:p>
          <a:p>
            <a:r>
              <a:rPr lang="en-IN" b="1" dirty="0"/>
              <a:t>Team Members:</a:t>
            </a:r>
          </a:p>
          <a:p>
            <a:r>
              <a:rPr lang="en-IN" dirty="0"/>
              <a:t>1) 2420030610 - Ch. Srikar</a:t>
            </a:r>
          </a:p>
          <a:p>
            <a:r>
              <a:rPr lang="en-IN" dirty="0"/>
              <a:t>2) 2420030406 – K. Narasimha Sai</a:t>
            </a:r>
          </a:p>
          <a:p>
            <a:r>
              <a:rPr lang="en-IN" dirty="0"/>
              <a:t>3) 2420080075 – D. Hari Haran</a:t>
            </a:r>
          </a:p>
          <a:p>
            <a:r>
              <a:rPr lang="en-IN" dirty="0"/>
              <a:t>4) 2420080039 – P. </a:t>
            </a:r>
            <a:r>
              <a:rPr lang="en-IN" dirty="0" err="1"/>
              <a:t>Jyothik</a:t>
            </a:r>
            <a:r>
              <a:rPr lang="en-IN" dirty="0"/>
              <a:t> Kshitij</a:t>
            </a:r>
          </a:p>
          <a:p>
            <a:endParaRPr lang="en-IN" dirty="0"/>
          </a:p>
        </p:txBody>
      </p:sp>
      <p:pic>
        <p:nvPicPr>
          <p:cNvPr id="6" name="Picture 5" descr="MAPS &amp; DIRECTIONS - Best Private University in Telangana ...">
            <a:extLst>
              <a:ext uri="{FF2B5EF4-FFF2-40B4-BE49-F238E27FC236}">
                <a16:creationId xmlns:a16="http://schemas.microsoft.com/office/drawing/2014/main" id="{66AC24CE-26F1-0B03-7D00-DCD4051EC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3534" y="0"/>
            <a:ext cx="1848465" cy="118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066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0FBC52-2C03-0059-42A6-942B3C5B2492}"/>
              </a:ext>
            </a:extLst>
          </p:cNvPr>
          <p:cNvSpPr txBox="1"/>
          <p:nvPr/>
        </p:nvSpPr>
        <p:spPr>
          <a:xfrm>
            <a:off x="3828758" y="216841"/>
            <a:ext cx="39329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FC96E1-C2EB-3574-DCD8-CE585B83DB97}"/>
              </a:ext>
            </a:extLst>
          </p:cNvPr>
          <p:cNvSpPr txBox="1"/>
          <p:nvPr/>
        </p:nvSpPr>
        <p:spPr>
          <a:xfrm>
            <a:off x="1192980" y="1537164"/>
            <a:ext cx="9806039" cy="3592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People struggle to track and manage their daily expenses.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Existing finance apps provide limited personalized financial guidance.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Users often cannot estimate how much they can realistically save each month.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Many people are unsure how to invest their savings based on their financial situation and risk level.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An intelligent system is needed to predict savings and recommend suitable investments with personalized AI advice.</a:t>
            </a:r>
          </a:p>
        </p:txBody>
      </p:sp>
      <p:pic>
        <p:nvPicPr>
          <p:cNvPr id="5" name="Picture 4" descr="MAPS &amp; DIRECTIONS - Best Private University in Telangana ...">
            <a:extLst>
              <a:ext uri="{FF2B5EF4-FFF2-40B4-BE49-F238E27FC236}">
                <a16:creationId xmlns:a16="http://schemas.microsoft.com/office/drawing/2014/main" id="{97E88FA8-FB49-626E-81DB-D0C0720AF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3534" y="0"/>
            <a:ext cx="1848465" cy="118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483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4FB641-FE89-CB9D-23F7-A82B63038D0B}"/>
              </a:ext>
            </a:extLst>
          </p:cNvPr>
          <p:cNvSpPr txBox="1"/>
          <p:nvPr/>
        </p:nvSpPr>
        <p:spPr>
          <a:xfrm>
            <a:off x="4972500" y="262164"/>
            <a:ext cx="2246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/>
              <a:t>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39C73-416C-F050-47CB-3E3E1E575293}"/>
              </a:ext>
            </a:extLst>
          </p:cNvPr>
          <p:cNvSpPr txBox="1"/>
          <p:nvPr/>
        </p:nvSpPr>
        <p:spPr>
          <a:xfrm>
            <a:off x="393290" y="1363634"/>
            <a:ext cx="11250841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AutoNum type="arabicParenR"/>
            </a:pPr>
            <a:r>
              <a:rPr lang="en-IN" sz="2400" dirty="0"/>
              <a:t>To analyse users' income and expenditure patterns to understand their financial    behaviour. </a:t>
            </a:r>
          </a:p>
          <a:p>
            <a:pPr lvl="0"/>
            <a:endParaRPr lang="en-IN" sz="2400" dirty="0"/>
          </a:p>
          <a:p>
            <a:pPr lvl="0"/>
            <a:r>
              <a:rPr lang="en-IN" sz="2400" b="1" dirty="0"/>
              <a:t>2) </a:t>
            </a:r>
            <a:r>
              <a:rPr lang="en-IN" sz="2400" dirty="0"/>
              <a:t>To predict users' monthly savings using Machine Learning models. </a:t>
            </a:r>
          </a:p>
          <a:p>
            <a:pPr lvl="0"/>
            <a:endParaRPr lang="en-IN" sz="2400" dirty="0"/>
          </a:p>
          <a:p>
            <a:pPr lvl="0"/>
            <a:r>
              <a:rPr lang="en-IN" sz="2400" b="1" dirty="0"/>
              <a:t>3) </a:t>
            </a:r>
            <a:r>
              <a:rPr lang="en-IN" sz="2400" dirty="0"/>
              <a:t>To identify unnecessary expenses and provide personalized budgeting suggestions.</a:t>
            </a:r>
          </a:p>
          <a:p>
            <a:pPr lvl="0"/>
            <a:r>
              <a:rPr lang="en-IN" sz="2400" dirty="0"/>
              <a:t> </a:t>
            </a:r>
          </a:p>
          <a:p>
            <a:pPr lvl="0"/>
            <a:r>
              <a:rPr lang="en-IN" sz="2400" dirty="0"/>
              <a:t>4) To generate a Financial Health Score based on the user's financial condition. </a:t>
            </a:r>
          </a:p>
          <a:p>
            <a:pPr lvl="0"/>
            <a:endParaRPr lang="en-IN" sz="2400" dirty="0"/>
          </a:p>
          <a:p>
            <a:pPr marL="457200" lvl="0" indent="-457200">
              <a:buAutoNum type="arabicParenR" startAt="5"/>
            </a:pPr>
            <a:r>
              <a:rPr lang="en-IN" sz="2400" dirty="0"/>
              <a:t>To recommend suitable investment opportunities based on the user's available savings</a:t>
            </a:r>
          </a:p>
          <a:p>
            <a:pPr lvl="0"/>
            <a:r>
              <a:rPr lang="en-IN" sz="2400" dirty="0"/>
              <a:t>       and risk profile   .                   </a:t>
            </a:r>
          </a:p>
          <a:p>
            <a:pPr lvl="0"/>
            <a:endParaRPr lang="en-IN" sz="2400" dirty="0"/>
          </a:p>
          <a:p>
            <a:pPr lvl="0"/>
            <a:r>
              <a:rPr lang="en-IN" sz="2400" b="1" dirty="0"/>
              <a:t>6) </a:t>
            </a:r>
            <a:r>
              <a:rPr lang="en-IN" sz="2400" dirty="0"/>
              <a:t>To provide personalized financial guidance using an LLM for easy understanding. </a:t>
            </a:r>
          </a:p>
          <a:p>
            <a:pPr lvl="0"/>
            <a:endParaRPr lang="en-IN" sz="2200" dirty="0"/>
          </a:p>
        </p:txBody>
      </p:sp>
      <p:pic>
        <p:nvPicPr>
          <p:cNvPr id="5" name="Picture 4" descr="MAPS &amp; DIRECTIONS - Best Private University in Telangana ...">
            <a:extLst>
              <a:ext uri="{FF2B5EF4-FFF2-40B4-BE49-F238E27FC236}">
                <a16:creationId xmlns:a16="http://schemas.microsoft.com/office/drawing/2014/main" id="{6F001974-0EF2-A6E8-0BFE-7A87EAF65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3534" y="0"/>
            <a:ext cx="1848465" cy="118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359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84E7201-7DA2-17E5-5DF9-4660BD2A30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684896"/>
              </p:ext>
            </p:extLst>
          </p:nvPr>
        </p:nvGraphicFramePr>
        <p:xfrm>
          <a:off x="0" y="658761"/>
          <a:ext cx="12192000" cy="6199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5834541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356963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972235921"/>
                    </a:ext>
                  </a:extLst>
                </a:gridCol>
              </a:tblGrid>
              <a:tr h="673640">
                <a:tc>
                  <a:txBody>
                    <a:bodyPr/>
                    <a:lstStyle/>
                    <a:p>
                      <a:r>
                        <a:rPr lang="en-IN" dirty="0"/>
                        <a:t>Literature Survey Projects and Research Papers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Key Contributions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152516"/>
                  </a:ext>
                </a:extLst>
              </a:tr>
              <a:tr h="1286889">
                <a:tc>
                  <a:txBody>
                    <a:bodyPr/>
                    <a:lstStyle/>
                    <a:p>
                      <a:r>
                        <a:rPr lang="en-IN" dirty="0" err="1"/>
                        <a:t>WeFinance</a:t>
                      </a:r>
                      <a:r>
                        <a:rPr lang="en-IN" dirty="0"/>
                        <a:t>: AI-Powered Personal Finance Assistant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Uses GPT-4o Vision for bill recognition, expense analysis, conversational financial advice, anomaly detection, and explainable investment recommendations.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Does not provide ML-based monthly savings prediction or a dedicated financial health score.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388970"/>
                  </a:ext>
                </a:extLst>
              </a:tr>
              <a:tr h="1209327">
                <a:tc>
                  <a:txBody>
                    <a:bodyPr/>
                    <a:lstStyle/>
                    <a:p>
                      <a:r>
                        <a:rPr lang="en-IN" dirty="0"/>
                        <a:t>Can LLMs be Good Financial Advisors?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Evaluates LLMs for personal financial decision-making, including banking, purchases, payments, and investment advice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LLM responses can be fluent but still have accuracy and reliability limitations; it does not build a complete personal finance management system.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644945"/>
                  </a:ext>
                </a:extLst>
              </a:tr>
              <a:tr h="918295">
                <a:tc>
                  <a:txBody>
                    <a:bodyPr/>
                    <a:lstStyle/>
                    <a:p>
                      <a:r>
                        <a:rPr lang="en-IN" dirty="0"/>
                        <a:t>Large Language Models in Finance: A Survey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Reviews LLM applications in finance, including zero-shot, few-shot, and fine-tuned approaches.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Provides a broad survey but does not implement an end-to-end personal finance advisor.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228573"/>
                  </a:ext>
                </a:extLst>
              </a:tr>
              <a:tr h="1192792">
                <a:tc>
                  <a:txBody>
                    <a:bodyPr/>
                    <a:lstStyle/>
                    <a:p>
                      <a:r>
                        <a:rPr lang="en-IN" dirty="0"/>
                        <a:t>Can AI Help with Your Personal Finances?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Compares ChatGPT, Gemini, Claude, and Llama for personal finance questions such as taxes, loans, mortgages, and investments.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Evaluates existing LLMs but does not integrate them with a user's financial dataset and ML savings prediction.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6949266"/>
                  </a:ext>
                </a:extLst>
              </a:tr>
              <a:tr h="918295">
                <a:tc>
                  <a:txBody>
                    <a:bodyPr/>
                    <a:lstStyle/>
                    <a:p>
                      <a:r>
                        <a:rPr lang="en-IN" dirty="0"/>
                        <a:t>Investor </a:t>
                      </a:r>
                      <a:r>
                        <a:rPr lang="en-IN" dirty="0" err="1"/>
                        <a:t>Behavior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Modeling</a:t>
                      </a:r>
                      <a:r>
                        <a:rPr lang="en-IN" dirty="0"/>
                        <a:t> Using Machine Learning (2021)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Uses NLP and supervised machine learning to model investor </a:t>
                      </a:r>
                      <a:r>
                        <a:rPr lang="en-IN" dirty="0" err="1"/>
                        <a:t>behavior</a:t>
                      </a:r>
                      <a:r>
                        <a:rPr lang="en-IN" dirty="0"/>
                        <a:t> and identify financial coaching needs.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Focuses on investor </a:t>
                      </a:r>
                      <a:r>
                        <a:rPr lang="en-IN" dirty="0" err="1"/>
                        <a:t>behavior</a:t>
                      </a:r>
                      <a:r>
                        <a:rPr lang="en-IN" dirty="0"/>
                        <a:t> rather than income/expense analysis and monthly savings prediction.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67735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A97F5F5-1715-767E-4DEA-AEBB4922EF18}"/>
              </a:ext>
            </a:extLst>
          </p:cNvPr>
          <p:cNvSpPr txBox="1"/>
          <p:nvPr/>
        </p:nvSpPr>
        <p:spPr>
          <a:xfrm>
            <a:off x="4788310" y="186813"/>
            <a:ext cx="2664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Literature Survey</a:t>
            </a:r>
          </a:p>
        </p:txBody>
      </p:sp>
      <p:pic>
        <p:nvPicPr>
          <p:cNvPr id="5" name="Picture 4" descr="MAPS &amp; DIRECTIONS - Best Private University in Telangana ...">
            <a:extLst>
              <a:ext uri="{FF2B5EF4-FFF2-40B4-BE49-F238E27FC236}">
                <a16:creationId xmlns:a16="http://schemas.microsoft.com/office/drawing/2014/main" id="{CAC7631E-B553-2A42-F266-175F282C1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6994" y="1"/>
            <a:ext cx="1465005" cy="662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032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535C588-117F-B20C-B028-8A5A2A9E5A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2170619"/>
              </p:ext>
            </p:extLst>
          </p:nvPr>
        </p:nvGraphicFramePr>
        <p:xfrm>
          <a:off x="0" y="624973"/>
          <a:ext cx="12191999" cy="6392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7465">
                  <a:extLst>
                    <a:ext uri="{9D8B030D-6E8A-4147-A177-3AD203B41FA5}">
                      <a16:colId xmlns:a16="http://schemas.microsoft.com/office/drawing/2014/main" val="2851595033"/>
                    </a:ext>
                  </a:extLst>
                </a:gridCol>
                <a:gridCol w="4057267">
                  <a:extLst>
                    <a:ext uri="{9D8B030D-6E8A-4147-A177-3AD203B41FA5}">
                      <a16:colId xmlns:a16="http://schemas.microsoft.com/office/drawing/2014/main" val="1310547384"/>
                    </a:ext>
                  </a:extLst>
                </a:gridCol>
                <a:gridCol w="4057267">
                  <a:extLst>
                    <a:ext uri="{9D8B030D-6E8A-4147-A177-3AD203B41FA5}">
                      <a16:colId xmlns:a16="http://schemas.microsoft.com/office/drawing/2014/main" val="3215864909"/>
                    </a:ext>
                  </a:extLst>
                </a:gridCol>
              </a:tblGrid>
              <a:tr h="10292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Literature Survey Projects and Research Papers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Key Contributions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Limitations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887861"/>
                  </a:ext>
                </a:extLst>
              </a:tr>
              <a:tr h="1029265">
                <a:tc>
                  <a:txBody>
                    <a:bodyPr/>
                    <a:lstStyle/>
                    <a:p>
                      <a:r>
                        <a:rPr lang="en-IN" dirty="0"/>
                        <a:t>Are Generative AI Agents Effective Personalized Financial Advisors?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Investigates how generative AI agents can provide personalized financial recommendations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Focuses on evaluating personalized AI advice rather than combining financial-health analysis with savings prediction.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8080797"/>
                  </a:ext>
                </a:extLst>
              </a:tr>
              <a:tr h="1086710">
                <a:tc>
                  <a:txBody>
                    <a:bodyPr/>
                    <a:lstStyle/>
                    <a:p>
                      <a:r>
                        <a:rPr lang="en-IN" dirty="0"/>
                        <a:t>How Individuals Use Generative AI for Personal Financial Management 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Studies how people use LLMs for investment, savings planning, budgeting, tax filing, and other financial tasks.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Studies user </a:t>
                      </a:r>
                      <a:r>
                        <a:rPr lang="en-IN" dirty="0" err="1"/>
                        <a:t>behavior</a:t>
                      </a:r>
                      <a:r>
                        <a:rPr lang="en-IN"/>
                        <a:t> and adoption rather than developing an integrated ML + LLM financial advisor.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9571376"/>
                  </a:ext>
                </a:extLst>
              </a:tr>
              <a:tr h="1029265">
                <a:tc>
                  <a:txBody>
                    <a:bodyPr/>
                    <a:lstStyle/>
                    <a:p>
                      <a:r>
                        <a:rPr lang="en-IN" dirty="0"/>
                        <a:t>How Individuals Use Generative AI for Personal Financial Management 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Studies how people use LLMs for investment, savings planning, budgeting, tax filing, and other financial tasks.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Studies user </a:t>
                      </a:r>
                      <a:r>
                        <a:rPr lang="en-IN" dirty="0" err="1"/>
                        <a:t>behavior</a:t>
                      </a:r>
                      <a:r>
                        <a:rPr lang="en-IN" dirty="0"/>
                        <a:t> and adoption rather than developing an integrated ML + LLM financial advisor.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5130"/>
                  </a:ext>
                </a:extLst>
              </a:tr>
              <a:tr h="1029265">
                <a:tc>
                  <a:txBody>
                    <a:bodyPr/>
                    <a:lstStyle/>
                    <a:p>
                      <a:r>
                        <a:rPr lang="en-IN" dirty="0"/>
                        <a:t>Financial Advice Behaviour: Humans versus AI 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Compares financial recommendations from human advisors and LLMs and examines differences in portfolio recommendations.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Focuses on comparing advice quality rather than building a personalized savings prediction and financial-health system.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8286866"/>
                  </a:ext>
                </a:extLst>
              </a:tr>
              <a:tr h="1029265">
                <a:tc>
                  <a:txBody>
                    <a:bodyPr/>
                    <a:lstStyle/>
                    <a:p>
                      <a:r>
                        <a:rPr lang="en-IN" dirty="0"/>
                        <a:t>GPT Has Become Financially Literate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Evaluates GPT-3.5 and GPT-4 on financial literacy and their potential as financial advisors.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Focuses on financial knowledge and advice rather than personalized savings prediction and expense-based financial planning.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95926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8B648A0-C12F-EFC5-A071-A2665C097FD0}"/>
              </a:ext>
            </a:extLst>
          </p:cNvPr>
          <p:cNvSpPr txBox="1"/>
          <p:nvPr/>
        </p:nvSpPr>
        <p:spPr>
          <a:xfrm>
            <a:off x="4778477" y="186814"/>
            <a:ext cx="174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D3CB3F-4061-36F4-1F21-6240D8EC2F65}"/>
              </a:ext>
            </a:extLst>
          </p:cNvPr>
          <p:cNvSpPr txBox="1"/>
          <p:nvPr/>
        </p:nvSpPr>
        <p:spPr>
          <a:xfrm>
            <a:off x="4953377" y="117987"/>
            <a:ext cx="24800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Literature Survey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9670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435858-6A9C-F119-C357-EB8956A4EB9D}"/>
              </a:ext>
            </a:extLst>
          </p:cNvPr>
          <p:cNvSpPr txBox="1"/>
          <p:nvPr/>
        </p:nvSpPr>
        <p:spPr>
          <a:xfrm>
            <a:off x="4674928" y="238836"/>
            <a:ext cx="33036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Innovation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C7697F-B65E-DEBF-F202-16FB65394363}"/>
              </a:ext>
            </a:extLst>
          </p:cNvPr>
          <p:cNvSpPr txBox="1"/>
          <p:nvPr/>
        </p:nvSpPr>
        <p:spPr>
          <a:xfrm>
            <a:off x="653099" y="1304330"/>
            <a:ext cx="1134729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AutoNum type="arabicParenR"/>
            </a:pPr>
            <a:r>
              <a:rPr lang="en-IN" sz="2200" b="1" dirty="0"/>
              <a:t>Machine Learning-based monthly savings prediction</a:t>
            </a:r>
            <a:r>
              <a:rPr lang="en-IN" sz="2200" dirty="0"/>
              <a:t>, which is not available in </a:t>
            </a:r>
            <a:r>
              <a:rPr lang="en-IN" sz="2200" dirty="0" err="1"/>
              <a:t>WeFinance</a:t>
            </a:r>
            <a:r>
              <a:rPr lang="en-IN" sz="2200" dirty="0"/>
              <a:t>. </a:t>
            </a:r>
          </a:p>
          <a:p>
            <a:pPr lvl="0"/>
            <a:endParaRPr lang="en-IN" sz="2200" dirty="0"/>
          </a:p>
          <a:p>
            <a:pPr marL="342900" lvl="0" indent="-342900">
              <a:buAutoNum type="arabicParenR" startAt="2"/>
            </a:pPr>
            <a:r>
              <a:rPr lang="en-IN" sz="2200" b="1" dirty="0"/>
              <a:t>Financial Health Score generation</a:t>
            </a:r>
            <a:r>
              <a:rPr lang="en-IN" sz="2200" dirty="0"/>
              <a:t> to assess the user's financial condition. </a:t>
            </a:r>
          </a:p>
          <a:p>
            <a:pPr lvl="0"/>
            <a:endParaRPr lang="en-IN" sz="2200" dirty="0"/>
          </a:p>
          <a:p>
            <a:pPr marL="342900" lvl="0" indent="-342900">
              <a:buAutoNum type="arabicParenR" startAt="3"/>
            </a:pPr>
            <a:r>
              <a:rPr lang="en-IN" sz="2200" b="1" dirty="0"/>
              <a:t>Personalized budget planning</a:t>
            </a:r>
            <a:r>
              <a:rPr lang="en-IN" sz="2200" dirty="0"/>
              <a:t> based on income and expenditure patterns instead of only bill analysis. </a:t>
            </a:r>
          </a:p>
          <a:p>
            <a:pPr lvl="0"/>
            <a:endParaRPr lang="en-IN" sz="2200" dirty="0"/>
          </a:p>
          <a:p>
            <a:pPr marL="342900" lvl="0" indent="-342900">
              <a:buAutoNum type="arabicParenR" startAt="4"/>
            </a:pPr>
            <a:r>
              <a:rPr lang="en-IN" sz="2200" b="1" dirty="0"/>
              <a:t>LLM-powered financial guidance</a:t>
            </a:r>
            <a:r>
              <a:rPr lang="en-IN" sz="2200" dirty="0"/>
              <a:t> that explains recommendations in simple, natural language.</a:t>
            </a:r>
          </a:p>
          <a:p>
            <a:pPr lvl="0"/>
            <a:r>
              <a:rPr lang="en-IN" sz="2200" dirty="0"/>
              <a:t> </a:t>
            </a:r>
          </a:p>
          <a:p>
            <a:pPr marL="342900" lvl="0" indent="-342900">
              <a:buAutoNum type="arabicParenR" startAt="5"/>
            </a:pPr>
            <a:r>
              <a:rPr lang="en-IN" sz="2200" b="1" dirty="0"/>
              <a:t>Future savings forecasting</a:t>
            </a:r>
            <a:r>
              <a:rPr lang="en-IN" sz="2200" dirty="0"/>
              <a:t> to help users plan their finances proactively. </a:t>
            </a:r>
          </a:p>
          <a:p>
            <a:pPr lvl="0"/>
            <a:endParaRPr lang="en-IN" sz="2200" dirty="0"/>
          </a:p>
          <a:p>
            <a:pPr marL="342900" lvl="0" indent="-342900">
              <a:buAutoNum type="arabicParenR" startAt="6"/>
            </a:pPr>
            <a:r>
              <a:rPr lang="en-IN" sz="2200" b="1" dirty="0"/>
              <a:t>Integration of Machine Learning and LLM</a:t>
            </a:r>
            <a:r>
              <a:rPr lang="en-IN" sz="2200" dirty="0"/>
              <a:t> into a single intelligent financial advisory system.</a:t>
            </a:r>
          </a:p>
          <a:p>
            <a:pPr lvl="0"/>
            <a:r>
              <a:rPr lang="en-IN" sz="2200" dirty="0"/>
              <a:t> </a:t>
            </a:r>
          </a:p>
          <a:p>
            <a:pPr lvl="0"/>
            <a:r>
              <a:rPr lang="en-IN" sz="2200" b="1" dirty="0"/>
              <a:t>7)   Personalized investment recommendations</a:t>
            </a:r>
            <a:r>
              <a:rPr lang="en-IN" sz="2200" dirty="0"/>
              <a:t> based on predicted savings and the user's financial profile</a:t>
            </a:r>
          </a:p>
        </p:txBody>
      </p:sp>
      <p:pic>
        <p:nvPicPr>
          <p:cNvPr id="5" name="Picture 4" descr="MAPS &amp; DIRECTIONS - Best Private University in Telangana ...">
            <a:extLst>
              <a:ext uri="{FF2B5EF4-FFF2-40B4-BE49-F238E27FC236}">
                <a16:creationId xmlns:a16="http://schemas.microsoft.com/office/drawing/2014/main" id="{AD59B87D-0D94-2EF2-21B9-ED231C7FE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3534" y="0"/>
            <a:ext cx="1848465" cy="118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241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7DEB05-1F93-EA4F-46AD-2560C593FB12}"/>
              </a:ext>
            </a:extLst>
          </p:cNvPr>
          <p:cNvSpPr txBox="1"/>
          <p:nvPr/>
        </p:nvSpPr>
        <p:spPr>
          <a:xfrm>
            <a:off x="3972232" y="412954"/>
            <a:ext cx="53094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Research Gap Identification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61618D-63C0-9D87-B255-A9372609938B}"/>
              </a:ext>
            </a:extLst>
          </p:cNvPr>
          <p:cNvSpPr txBox="1"/>
          <p:nvPr/>
        </p:nvSpPr>
        <p:spPr>
          <a:xfrm>
            <a:off x="98323" y="874619"/>
            <a:ext cx="1174954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dirty="0"/>
              <a:t>1)Existing systems mainly focus on </a:t>
            </a:r>
            <a:r>
              <a:rPr lang="en-IN" b="1" dirty="0"/>
              <a:t>expense tracking and bill analysis</a:t>
            </a:r>
            <a:r>
              <a:rPr lang="en-IN" dirty="0"/>
              <a:t> rather than comprehensive income–expense analysis.</a:t>
            </a:r>
          </a:p>
          <a:p>
            <a:pPr lvl="0"/>
            <a:r>
              <a:rPr lang="en-IN" dirty="0"/>
              <a:t> </a:t>
            </a:r>
          </a:p>
          <a:p>
            <a:pPr lvl="0"/>
            <a:r>
              <a:rPr lang="en-IN" dirty="0"/>
              <a:t>2)Limited systems provide </a:t>
            </a:r>
            <a:r>
              <a:rPr lang="en-IN" b="1" dirty="0"/>
              <a:t>personalized monthly savings prediction</a:t>
            </a:r>
            <a:r>
              <a:rPr lang="en-IN" dirty="0"/>
              <a:t> using Machine Learning. 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3)Most existing solutions do not provide a </a:t>
            </a:r>
            <a:r>
              <a:rPr lang="en-IN" b="1" dirty="0"/>
              <a:t>Financial Health Score</a:t>
            </a:r>
            <a:r>
              <a:rPr lang="en-IN" dirty="0"/>
              <a:t> based on the user's overall financial condition. 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4)Existing financial assistants often provide </a:t>
            </a:r>
            <a:r>
              <a:rPr lang="en-IN" b="1" dirty="0"/>
              <a:t>general financial advice</a:t>
            </a:r>
            <a:r>
              <a:rPr lang="en-IN" dirty="0"/>
              <a:t> rather than recommendations based on individual financial data. 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5)Limited integration of </a:t>
            </a:r>
            <a:r>
              <a:rPr lang="en-IN" b="1" dirty="0"/>
              <a:t>ML-based financial prediction with LLM-based personalized guidance</a:t>
            </a:r>
            <a:r>
              <a:rPr lang="en-IN" dirty="0"/>
              <a:t> exists in current solutions. 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6)Existing studies focus separately on </a:t>
            </a:r>
            <a:r>
              <a:rPr lang="en-IN" b="1" dirty="0"/>
              <a:t>LLM financial advice, investment </a:t>
            </a:r>
            <a:r>
              <a:rPr lang="en-IN" b="1" dirty="0" err="1"/>
              <a:t>behavior</a:t>
            </a:r>
            <a:r>
              <a:rPr lang="en-IN" b="1" dirty="0"/>
              <a:t>, or budgeting</a:t>
            </a:r>
            <a:r>
              <a:rPr lang="en-IN" dirty="0"/>
              <a:t>, rather than combining these capabilities. 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7)There is a need for </a:t>
            </a:r>
            <a:r>
              <a:rPr lang="en-IN" b="1" dirty="0"/>
              <a:t>personalized budget planning</a:t>
            </a:r>
            <a:r>
              <a:rPr lang="en-IN" dirty="0"/>
              <a:t> based on users' income, expenses, and spending patterns. 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8)Existing solutions provide limited </a:t>
            </a:r>
            <a:r>
              <a:rPr lang="en-IN" b="1" dirty="0"/>
              <a:t>future-oriented financial planning</a:t>
            </a:r>
            <a:r>
              <a:rPr lang="en-IN" dirty="0"/>
              <a:t> based on predicted savings. 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9)There is a need for an </a:t>
            </a:r>
            <a:r>
              <a:rPr lang="en-IN" b="1" dirty="0"/>
              <a:t>integrated AI-powered personal finance system</a:t>
            </a:r>
            <a:r>
              <a:rPr lang="en-IN" dirty="0"/>
              <a:t> combining financial analysis, savings prediction, financial health assessment, and personalized guidance.</a:t>
            </a:r>
          </a:p>
        </p:txBody>
      </p:sp>
      <p:pic>
        <p:nvPicPr>
          <p:cNvPr id="5" name="Picture 4" descr="MAPS &amp; DIRECTIONS - Best Private University in Telangana ...">
            <a:extLst>
              <a:ext uri="{FF2B5EF4-FFF2-40B4-BE49-F238E27FC236}">
                <a16:creationId xmlns:a16="http://schemas.microsoft.com/office/drawing/2014/main" id="{E6C3AB1C-782F-A096-E410-023AF7545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8671" y="-58992"/>
            <a:ext cx="1563328" cy="100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774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FEDD80-BDEA-9353-A1E2-84EAED1D56B1}"/>
              </a:ext>
            </a:extLst>
          </p:cNvPr>
          <p:cNvSpPr txBox="1"/>
          <p:nvPr/>
        </p:nvSpPr>
        <p:spPr>
          <a:xfrm>
            <a:off x="405113" y="1215406"/>
            <a:ext cx="13021519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AutoNum type="arabicParenR"/>
            </a:pPr>
            <a:r>
              <a:rPr lang="en-IN" sz="2200" b="1" dirty="0"/>
              <a:t>AI-powered Personal Finance Advisor</a:t>
            </a:r>
            <a:r>
              <a:rPr lang="en-IN" sz="2200" dirty="0"/>
              <a:t> that provides personalized financial assistance. </a:t>
            </a:r>
          </a:p>
          <a:p>
            <a:pPr lvl="0"/>
            <a:endParaRPr lang="en-IN" sz="2200" dirty="0"/>
          </a:p>
          <a:p>
            <a:pPr marL="342900" lvl="0" indent="-342900">
              <a:buAutoNum type="arabicParenR" startAt="2"/>
            </a:pPr>
            <a:r>
              <a:rPr lang="en-IN" sz="2200" b="1" dirty="0"/>
              <a:t>Natural Language Financial Guidance</a:t>
            </a:r>
            <a:r>
              <a:rPr lang="en-IN" sz="2200" dirty="0"/>
              <a:t> using an LLM for easy-to- understand recommendations. </a:t>
            </a:r>
          </a:p>
          <a:p>
            <a:pPr lvl="0"/>
            <a:endParaRPr lang="en-IN" sz="2200" dirty="0"/>
          </a:p>
          <a:p>
            <a:pPr marL="342900" lvl="0" indent="-342900">
              <a:buAutoNum type="arabicParenR" startAt="3"/>
            </a:pPr>
            <a:r>
              <a:rPr lang="en-IN" sz="2200" b="1" dirty="0"/>
              <a:t>Personalized Savings Prediction</a:t>
            </a:r>
            <a:r>
              <a:rPr lang="en-IN" sz="2200" dirty="0"/>
              <a:t> based on users' income and spending </a:t>
            </a:r>
            <a:r>
              <a:rPr lang="en-IN" sz="2200" dirty="0" err="1"/>
              <a:t>behavior</a:t>
            </a:r>
            <a:r>
              <a:rPr lang="en-IN" sz="2200" dirty="0"/>
              <a:t>. </a:t>
            </a:r>
          </a:p>
          <a:p>
            <a:pPr lvl="0"/>
            <a:endParaRPr lang="en-IN" sz="2200" dirty="0"/>
          </a:p>
          <a:p>
            <a:pPr marL="342900" lvl="0" indent="-342900">
              <a:buAutoNum type="arabicParenR" startAt="4"/>
            </a:pPr>
            <a:r>
              <a:rPr lang="en-IN" sz="2200" b="1" dirty="0"/>
              <a:t>Financial Health Score</a:t>
            </a:r>
            <a:r>
              <a:rPr lang="en-IN" sz="2200" dirty="0"/>
              <a:t> to help users quickly understand their financial status. </a:t>
            </a:r>
          </a:p>
          <a:p>
            <a:pPr lvl="0"/>
            <a:endParaRPr lang="en-IN" sz="2200" dirty="0"/>
          </a:p>
          <a:p>
            <a:pPr marL="342900" lvl="0" indent="-342900">
              <a:buAutoNum type="arabicParenR" startAt="5"/>
            </a:pPr>
            <a:r>
              <a:rPr lang="en-IN" sz="2200" b="1" dirty="0"/>
              <a:t>Interactive AI Dashboard</a:t>
            </a:r>
            <a:r>
              <a:rPr lang="en-IN" sz="2200" dirty="0"/>
              <a:t> for visualizing expenses, savings, and financial insights.</a:t>
            </a:r>
          </a:p>
          <a:p>
            <a:pPr lvl="0"/>
            <a:r>
              <a:rPr lang="en-IN" sz="2200" dirty="0"/>
              <a:t> </a:t>
            </a:r>
          </a:p>
          <a:p>
            <a:pPr marL="342900" lvl="0" indent="-342900">
              <a:buAutoNum type="arabicParenR" startAt="6"/>
            </a:pPr>
            <a:r>
              <a:rPr lang="en-IN" sz="2200" b="1" dirty="0"/>
              <a:t>Smart Budget Recommendations</a:t>
            </a:r>
            <a:r>
              <a:rPr lang="en-IN" sz="2200" dirty="0"/>
              <a:t> tailored to each user's financial profile. </a:t>
            </a:r>
          </a:p>
          <a:p>
            <a:pPr lvl="0"/>
            <a:endParaRPr lang="en-IN" sz="2200" dirty="0"/>
          </a:p>
          <a:p>
            <a:pPr marL="342900" lvl="0" indent="-342900">
              <a:buAutoNum type="arabicParenR" startAt="7"/>
            </a:pPr>
            <a:r>
              <a:rPr lang="en-IN" sz="2200" b="1" dirty="0"/>
              <a:t>Data-driven Decision Making</a:t>
            </a:r>
            <a:r>
              <a:rPr lang="en-IN" sz="2200" dirty="0"/>
              <a:t> by combining machine learning with financial analytics. </a:t>
            </a:r>
          </a:p>
          <a:p>
            <a:pPr lvl="0"/>
            <a:endParaRPr lang="en-IN" sz="2200" dirty="0"/>
          </a:p>
          <a:p>
            <a:pPr lvl="0"/>
            <a:r>
              <a:rPr lang="en-IN" sz="2200" b="1" dirty="0"/>
              <a:t>8)    User-centric Design</a:t>
            </a:r>
            <a:r>
              <a:rPr lang="en-IN" sz="2200" dirty="0"/>
              <a:t> that simplifies complex financial information into actionable advice.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914929-6534-45BD-5566-9CBA16AD808A}"/>
              </a:ext>
            </a:extLst>
          </p:cNvPr>
          <p:cNvSpPr txBox="1"/>
          <p:nvPr/>
        </p:nvSpPr>
        <p:spPr>
          <a:xfrm>
            <a:off x="4853651" y="298327"/>
            <a:ext cx="3057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Creativity</a:t>
            </a:r>
          </a:p>
        </p:txBody>
      </p:sp>
      <p:pic>
        <p:nvPicPr>
          <p:cNvPr id="5" name="Picture 4" descr="MAPS &amp; DIRECTIONS - Best Private University in Telangana ...">
            <a:extLst>
              <a:ext uri="{FF2B5EF4-FFF2-40B4-BE49-F238E27FC236}">
                <a16:creationId xmlns:a16="http://schemas.microsoft.com/office/drawing/2014/main" id="{9BCDFFB4-9812-C76E-FE9A-7811EFC59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3534" y="0"/>
            <a:ext cx="1848465" cy="118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277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6212A1-A569-D8C1-BE7C-20B4F0759EBA}"/>
              </a:ext>
            </a:extLst>
          </p:cNvPr>
          <p:cNvSpPr txBox="1"/>
          <p:nvPr/>
        </p:nvSpPr>
        <p:spPr>
          <a:xfrm>
            <a:off x="5039033" y="159530"/>
            <a:ext cx="24089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Novelty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897968-C224-3E86-27B4-328F99BBD3C0}"/>
              </a:ext>
            </a:extLst>
          </p:cNvPr>
          <p:cNvSpPr txBox="1"/>
          <p:nvPr/>
        </p:nvSpPr>
        <p:spPr>
          <a:xfrm>
            <a:off x="578858" y="1010245"/>
            <a:ext cx="11034283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AutoNum type="arabicParenR"/>
            </a:pPr>
            <a:r>
              <a:rPr lang="en-IN" sz="2200" b="1" dirty="0"/>
              <a:t>Combines Machine Learning and Large Language Models (LLMs)</a:t>
            </a:r>
            <a:r>
              <a:rPr lang="en-IN" sz="2200" dirty="0"/>
              <a:t> into a single intelligent personal finance system.</a:t>
            </a:r>
          </a:p>
          <a:p>
            <a:pPr lvl="0"/>
            <a:r>
              <a:rPr lang="en-IN" sz="2200" dirty="0"/>
              <a:t> </a:t>
            </a:r>
          </a:p>
          <a:p>
            <a:pPr marL="342900" lvl="0" indent="-342900">
              <a:buAutoNum type="arabicParenR" startAt="2"/>
            </a:pPr>
            <a:r>
              <a:rPr lang="en-IN" sz="2200" b="1" dirty="0"/>
              <a:t>Predicts users' monthly savings</a:t>
            </a:r>
            <a:r>
              <a:rPr lang="en-IN" sz="2200" dirty="0"/>
              <a:t> based on income and expenditure patterns instead of only tracking expenses. </a:t>
            </a:r>
          </a:p>
          <a:p>
            <a:pPr lvl="0"/>
            <a:endParaRPr lang="en-IN" sz="2200" dirty="0"/>
          </a:p>
          <a:p>
            <a:pPr marL="342900" lvl="0" indent="-342900">
              <a:buAutoNum type="arabicParenR" startAt="3"/>
            </a:pPr>
            <a:r>
              <a:rPr lang="en-IN" sz="2200" b="1" dirty="0"/>
              <a:t>Generates a Financial Health Score</a:t>
            </a:r>
            <a:r>
              <a:rPr lang="en-IN" sz="2200" dirty="0"/>
              <a:t> to evaluate overall financial well-being. </a:t>
            </a:r>
          </a:p>
          <a:p>
            <a:pPr lvl="0"/>
            <a:endParaRPr lang="en-IN" sz="2200" dirty="0"/>
          </a:p>
          <a:p>
            <a:pPr marL="342900" lvl="0" indent="-342900">
              <a:buAutoNum type="arabicParenR" startAt="4"/>
            </a:pPr>
            <a:r>
              <a:rPr lang="en-IN" sz="2200" b="1" dirty="0"/>
              <a:t>Provides personalized financial advice</a:t>
            </a:r>
            <a:r>
              <a:rPr lang="en-IN" sz="2200" dirty="0"/>
              <a:t> based on individual spending </a:t>
            </a:r>
            <a:r>
              <a:rPr lang="en-IN" sz="2200" dirty="0" err="1"/>
              <a:t>behavior</a:t>
            </a:r>
            <a:r>
              <a:rPr lang="en-IN" sz="2200" dirty="0"/>
              <a:t> rather than generic recommendations.</a:t>
            </a:r>
          </a:p>
          <a:p>
            <a:pPr lvl="0"/>
            <a:r>
              <a:rPr lang="en-IN" sz="2200" dirty="0"/>
              <a:t> </a:t>
            </a:r>
          </a:p>
          <a:p>
            <a:pPr marL="342900" lvl="0" indent="-342900">
              <a:buAutoNum type="arabicParenR" startAt="5"/>
            </a:pPr>
            <a:r>
              <a:rPr lang="en-IN" sz="2200" b="1" dirty="0"/>
              <a:t>Explains financial insights in natural language</a:t>
            </a:r>
            <a:r>
              <a:rPr lang="en-IN" sz="2200" dirty="0"/>
              <a:t> using an LLM, making financial planning easier to understand. </a:t>
            </a:r>
          </a:p>
          <a:p>
            <a:pPr lvl="0"/>
            <a:endParaRPr lang="en-IN" sz="2200" dirty="0"/>
          </a:p>
          <a:p>
            <a:pPr marL="342900" lvl="0" indent="-342900">
              <a:buAutoNum type="arabicParenR" startAt="6"/>
            </a:pPr>
            <a:r>
              <a:rPr lang="en-IN" sz="2200" b="1" dirty="0"/>
              <a:t>Integrates savings prediction, budget planning, and financial guidance</a:t>
            </a:r>
            <a:r>
              <a:rPr lang="en-IN" sz="2200" dirty="0"/>
              <a:t> into one AI-powered platform. </a:t>
            </a:r>
          </a:p>
          <a:p>
            <a:pPr lvl="0"/>
            <a:endParaRPr lang="en-IN" sz="2200" dirty="0"/>
          </a:p>
        </p:txBody>
      </p:sp>
      <p:pic>
        <p:nvPicPr>
          <p:cNvPr id="5" name="Picture 4" descr="MAPS &amp; DIRECTIONS - Best Private University in Telangana ...">
            <a:extLst>
              <a:ext uri="{FF2B5EF4-FFF2-40B4-BE49-F238E27FC236}">
                <a16:creationId xmlns:a16="http://schemas.microsoft.com/office/drawing/2014/main" id="{AB177045-603B-953E-164A-508EBA715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1355" y="0"/>
            <a:ext cx="1720644" cy="110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993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493B87-72B0-6D40-A94A-89CE209A68A6}"/>
              </a:ext>
            </a:extLst>
          </p:cNvPr>
          <p:cNvSpPr txBox="1"/>
          <p:nvPr/>
        </p:nvSpPr>
        <p:spPr>
          <a:xfrm>
            <a:off x="4488489" y="145616"/>
            <a:ext cx="2109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Feasibility</a:t>
            </a:r>
            <a:r>
              <a:rPr lang="en-IN" sz="32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1EB0F2-07CF-C790-4AA5-D8AF97799A3D}"/>
              </a:ext>
            </a:extLst>
          </p:cNvPr>
          <p:cNvSpPr txBox="1"/>
          <p:nvPr/>
        </p:nvSpPr>
        <p:spPr>
          <a:xfrm>
            <a:off x="606363" y="1428878"/>
            <a:ext cx="1122296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AutoNum type="arabicParenR"/>
            </a:pPr>
            <a:r>
              <a:rPr lang="en-IN" sz="2200" b="1" dirty="0"/>
              <a:t>Technical Feasibility:</a:t>
            </a:r>
            <a:r>
              <a:rPr lang="en-IN" sz="2200" dirty="0"/>
              <a:t> Uses well-established technologies such as Python, Machine Learning, LLMs, Flask/</a:t>
            </a:r>
            <a:r>
              <a:rPr lang="en-IN" sz="2200" dirty="0" err="1"/>
              <a:t>FastAPI</a:t>
            </a:r>
            <a:r>
              <a:rPr lang="en-IN" sz="2200" dirty="0"/>
              <a:t>, and React, making development practical. </a:t>
            </a:r>
          </a:p>
          <a:p>
            <a:pPr lvl="0"/>
            <a:endParaRPr lang="en-IN" sz="2200" dirty="0"/>
          </a:p>
          <a:p>
            <a:pPr marL="342900" lvl="0" indent="-342900">
              <a:buAutoNum type="arabicParenR" startAt="2"/>
            </a:pPr>
            <a:r>
              <a:rPr lang="en-IN" sz="2200" b="1" dirty="0"/>
              <a:t>Operational Feasibility:</a:t>
            </a:r>
            <a:r>
              <a:rPr lang="en-IN" sz="2200" dirty="0"/>
              <a:t> Provides an easy-to-use interface for users to manage expenses, predict savings, and receive AI-powered financial guidance. </a:t>
            </a:r>
          </a:p>
          <a:p>
            <a:pPr lvl="0"/>
            <a:endParaRPr lang="en-IN" sz="2200" dirty="0"/>
          </a:p>
          <a:p>
            <a:pPr marL="342900" lvl="0" indent="-342900">
              <a:buAutoNum type="arabicParenR" startAt="3"/>
            </a:pPr>
            <a:r>
              <a:rPr lang="en-IN" sz="2200" b="1" dirty="0"/>
              <a:t>Economic Feasibility:</a:t>
            </a:r>
            <a:r>
              <a:rPr lang="en-IN" sz="2200" dirty="0"/>
              <a:t> Utilizes open-source libraries, free datasets, and publicly available APIs, reducing development costs. </a:t>
            </a:r>
          </a:p>
          <a:p>
            <a:pPr lvl="0"/>
            <a:endParaRPr lang="en-IN" sz="2200" dirty="0"/>
          </a:p>
          <a:p>
            <a:pPr marL="342900" lvl="0" indent="-342900">
              <a:buAutoNum type="arabicParenR" startAt="4"/>
            </a:pPr>
            <a:r>
              <a:rPr lang="en-IN" sz="2200" b="1" dirty="0"/>
              <a:t>Data Feasibility:</a:t>
            </a:r>
            <a:r>
              <a:rPr lang="en-IN" sz="2200" dirty="0"/>
              <a:t> Publicly available personal finance datasets can be used for training and testing the ML models. </a:t>
            </a:r>
          </a:p>
          <a:p>
            <a:pPr lvl="0"/>
            <a:endParaRPr lang="en-IN" sz="2200" dirty="0"/>
          </a:p>
          <a:p>
            <a:pPr lvl="0"/>
            <a:r>
              <a:rPr lang="en-IN" sz="2200" b="1" dirty="0"/>
              <a:t>5)   Implementation Feasibility:</a:t>
            </a:r>
            <a:r>
              <a:rPr lang="en-IN" sz="2200" dirty="0"/>
              <a:t> The project can be completed within the mini-project timeline using the proposed technology stack and methodology</a:t>
            </a:r>
          </a:p>
        </p:txBody>
      </p:sp>
      <p:pic>
        <p:nvPicPr>
          <p:cNvPr id="5" name="Picture 4" descr="MAPS &amp; DIRECTIONS - Best Private University in Telangana ...">
            <a:extLst>
              <a:ext uri="{FF2B5EF4-FFF2-40B4-BE49-F238E27FC236}">
                <a16:creationId xmlns:a16="http://schemas.microsoft.com/office/drawing/2014/main" id="{424B2B12-3676-11A3-0CCB-37567CA55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3534" y="0"/>
            <a:ext cx="1848465" cy="118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654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A7DD67-78A5-0CDE-EA0F-DA5562A88F68}"/>
              </a:ext>
            </a:extLst>
          </p:cNvPr>
          <p:cNvSpPr txBox="1"/>
          <p:nvPr/>
        </p:nvSpPr>
        <p:spPr>
          <a:xfrm>
            <a:off x="3205316" y="235974"/>
            <a:ext cx="579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Project Plan and Target Users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531E6E-68F8-3DD8-0781-A06BFE99250E}"/>
              </a:ext>
            </a:extLst>
          </p:cNvPr>
          <p:cNvSpPr txBox="1"/>
          <p:nvPr/>
        </p:nvSpPr>
        <p:spPr>
          <a:xfrm>
            <a:off x="2861186" y="1946786"/>
            <a:ext cx="606650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/>
              <a:t>Phase 1:</a:t>
            </a:r>
            <a:r>
              <a:rPr lang="en-IN" sz="2200" dirty="0"/>
              <a:t> Requirement Analysis &amp; Literature Survey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/>
              <a:t>Phase 2:</a:t>
            </a:r>
            <a:r>
              <a:rPr lang="en-IN" sz="2200" dirty="0"/>
              <a:t> Dataset Collection &amp; Preprocessing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/>
              <a:t>Phase 3:</a:t>
            </a:r>
            <a:r>
              <a:rPr lang="en-IN" sz="2200" dirty="0"/>
              <a:t> Machine Learning Model Development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/>
              <a:t>Phase 4:</a:t>
            </a:r>
            <a:r>
              <a:rPr lang="en-IN" sz="2200" dirty="0"/>
              <a:t> LLM Integration &amp; Investment Recommendation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/>
              <a:t>Phase 5:</a:t>
            </a:r>
            <a:r>
              <a:rPr lang="en-IN" sz="2200" dirty="0"/>
              <a:t> Frontend, Backend &amp; Dashboard Development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b="1" dirty="0"/>
              <a:t>Phase 6:</a:t>
            </a:r>
            <a:r>
              <a:rPr lang="en-IN" sz="2200" dirty="0"/>
              <a:t> Testing &amp; Performance Evaluation</a:t>
            </a:r>
          </a:p>
        </p:txBody>
      </p:sp>
      <p:pic>
        <p:nvPicPr>
          <p:cNvPr id="6" name="Picture 5" descr="MAPS &amp; DIRECTIONS - Best Private University in Telangana ...">
            <a:extLst>
              <a:ext uri="{FF2B5EF4-FFF2-40B4-BE49-F238E27FC236}">
                <a16:creationId xmlns:a16="http://schemas.microsoft.com/office/drawing/2014/main" id="{0BF8A018-C82B-FD2D-0802-E34016276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3534" y="0"/>
            <a:ext cx="1848465" cy="118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516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2662EA-A5CA-7F13-A9FC-9E0E918A54D8}"/>
              </a:ext>
            </a:extLst>
          </p:cNvPr>
          <p:cNvSpPr txBox="1"/>
          <p:nvPr/>
        </p:nvSpPr>
        <p:spPr>
          <a:xfrm>
            <a:off x="4493342" y="383457"/>
            <a:ext cx="4581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Target Users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B55610-436C-ED45-1B2F-0FBB7307086E}"/>
              </a:ext>
            </a:extLst>
          </p:cNvPr>
          <p:cNvSpPr txBox="1"/>
          <p:nvPr/>
        </p:nvSpPr>
        <p:spPr>
          <a:xfrm>
            <a:off x="2074606" y="1809135"/>
            <a:ext cx="804278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Students</a:t>
            </a:r>
            <a:r>
              <a:rPr lang="en-IN"/>
              <a:t> – To manage monthly expenses, track spending habits, and improve savings.</a:t>
            </a:r>
          </a:p>
          <a:p>
            <a:endParaRPr lang="en-IN"/>
          </a:p>
          <a:p>
            <a:r>
              <a:rPr lang="en-IN" b="1"/>
              <a:t>Working Professionals</a:t>
            </a:r>
            <a:r>
              <a:rPr lang="en-IN"/>
              <a:t> – To plan budgets, monitor finances, and receive personalized financial guidance</a:t>
            </a:r>
          </a:p>
          <a:p>
            <a:endParaRPr lang="en-IN"/>
          </a:p>
          <a:p>
            <a:r>
              <a:rPr lang="en-IN" b="1"/>
              <a:t>Freelancers &amp; Self-Employed Individuals</a:t>
            </a:r>
            <a:r>
              <a:rPr lang="en-IN"/>
              <a:t> – To manage irregular income and forecast monthly savings.</a:t>
            </a:r>
          </a:p>
          <a:p>
            <a:endParaRPr lang="en-IN"/>
          </a:p>
          <a:p>
            <a:r>
              <a:rPr lang="en-IN" b="1"/>
              <a:t>Individuals Seeking Financial Awareness</a:t>
            </a:r>
            <a:r>
              <a:rPr lang="en-IN"/>
              <a:t> – To understand spending patterns and improve their overall financial health</a:t>
            </a:r>
            <a:endParaRPr lang="en-IN" dirty="0"/>
          </a:p>
        </p:txBody>
      </p:sp>
      <p:pic>
        <p:nvPicPr>
          <p:cNvPr id="6" name="Picture 5" descr="MAPS &amp; DIRECTIONS - Best Private University in Telangana ...">
            <a:extLst>
              <a:ext uri="{FF2B5EF4-FFF2-40B4-BE49-F238E27FC236}">
                <a16:creationId xmlns:a16="http://schemas.microsoft.com/office/drawing/2014/main" id="{CA627858-69F6-7E4B-CC53-75CB15AC6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3534" y="0"/>
            <a:ext cx="1848465" cy="118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266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CB0FA-808B-FFEA-29DB-6E308416FEAA}"/>
              </a:ext>
            </a:extLst>
          </p:cNvPr>
          <p:cNvSpPr txBox="1">
            <a:spLocks/>
          </p:cNvSpPr>
          <p:nvPr/>
        </p:nvSpPr>
        <p:spPr>
          <a:xfrm>
            <a:off x="3957094" y="2506036"/>
            <a:ext cx="6060311" cy="122390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+mn-lt"/>
              </a:rPr>
              <a:t>Thank you</a:t>
            </a:r>
            <a:endParaRPr lang="en-IN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93399413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152</TotalTime>
  <Words>1362</Words>
  <Application>Microsoft Office PowerPoint</Application>
  <PresentationFormat>Widescreen</PresentationFormat>
  <Paragraphs>152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Felix Titling</vt:lpstr>
      <vt:lpstr>Goudy Old Style</vt:lpstr>
      <vt:lpstr>Archway</vt:lpstr>
      <vt:lpstr>APPLIED MACHINE LEARNING FOR TEXT ANALYSIS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Lakshmi narasimha sai Komma</dc:creator>
  <cp:lastModifiedBy>Lakshmi narasimha sai Komma</cp:lastModifiedBy>
  <cp:revision>8</cp:revision>
  <dcterms:created xsi:type="dcterms:W3CDTF">2026-08-06T09:06:40Z</dcterms:created>
  <dcterms:modified xsi:type="dcterms:W3CDTF">2026-08-18T12:56:17Z</dcterms:modified>
</cp:coreProperties>
</file>